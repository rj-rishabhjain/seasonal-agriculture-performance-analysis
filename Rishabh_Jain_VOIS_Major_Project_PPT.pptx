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8" r:id="rId11"/>
    <p:sldId id="349" r:id="rId12"/>
    <p:sldId id="350" r:id="rId13"/>
    <p:sldId id="347"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7CCB79-AF28-4980-922A-B207E8D753DF}" v="380" dt="2026-09-19T19:46:45.673"/>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2" d="100"/>
          <a:sy n="72" d="100"/>
        </p:scale>
        <p:origin x="576"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ima Aggarwal" userId="25ba328919d519d5" providerId="Windows Live" clId="Web-{577CCB79-AF28-4980-922A-B207E8D753DF}"/>
    <pc:docChg chg="modSld">
      <pc:chgData name="Mahima Aggarwal" userId="25ba328919d519d5" providerId="Windows Live" clId="Web-{577CCB79-AF28-4980-922A-B207E8D753DF}" dt="2026-09-19T19:46:45.673" v="395" actId="20577"/>
      <pc:docMkLst>
        <pc:docMk/>
      </pc:docMkLst>
      <pc:sldChg chg="modSp">
        <pc:chgData name="Mahima Aggarwal" userId="25ba328919d519d5" providerId="Windows Live" clId="Web-{577CCB79-AF28-4980-922A-B207E8D753DF}" dt="2026-09-19T19:46:45.673" v="395" actId="20577"/>
        <pc:sldMkLst>
          <pc:docMk/>
          <pc:sldMk cId="1341901065" sldId="302"/>
        </pc:sldMkLst>
        <pc:spChg chg="mod">
          <ac:chgData name="Mahima Aggarwal" userId="25ba328919d519d5" providerId="Windows Live" clId="Web-{577CCB79-AF28-4980-922A-B207E8D753DF}" dt="2026-09-19T19:46:45.673" v="395" actId="20577"/>
          <ac:spMkLst>
            <pc:docMk/>
            <pc:sldMk cId="1341901065" sldId="302"/>
            <ac:spMk id="7" creationId="{B21C28F5-3CA3-4B78-B5C9-550C00BB3174}"/>
          </ac:spMkLst>
        </pc:spChg>
      </pc:sldChg>
      <pc:sldChg chg="addSp delSp modSp addAnim delAnim">
        <pc:chgData name="Mahima Aggarwal" userId="25ba328919d519d5" providerId="Windows Live" clId="Web-{577CCB79-AF28-4980-922A-B207E8D753DF}" dt="2026-09-19T19:30:37.037" v="260" actId="14100"/>
        <pc:sldMkLst>
          <pc:docMk/>
          <pc:sldMk cId="3696770303" sldId="315"/>
        </pc:sldMkLst>
        <pc:spChg chg="add del mod">
          <ac:chgData name="Mahima Aggarwal" userId="25ba328919d519d5" providerId="Windows Live" clId="Web-{577CCB79-AF28-4980-922A-B207E8D753DF}" dt="2026-09-19T19:30:37.037" v="260" actId="14100"/>
          <ac:spMkLst>
            <pc:docMk/>
            <pc:sldMk cId="3696770303" sldId="315"/>
            <ac:spMk id="3" creationId="{EBF2FBC7-3552-4F01-BB27-8BEEE74F7277}"/>
          </ac:spMkLst>
        </pc:spChg>
        <pc:spChg chg="add del mod">
          <ac:chgData name="Mahima Aggarwal" userId="25ba328919d519d5" providerId="Windows Live" clId="Web-{577CCB79-AF28-4980-922A-B207E8D753DF}" dt="2026-09-19T19:29:17.205" v="239"/>
          <ac:spMkLst>
            <pc:docMk/>
            <pc:sldMk cId="3696770303" sldId="315"/>
            <ac:spMk id="4" creationId="{7385178A-AABB-4BCE-5063-57701EC0E189}"/>
          </ac:spMkLst>
        </pc:spChg>
      </pc:sldChg>
      <pc:sldChg chg="modSp">
        <pc:chgData name="Mahima Aggarwal" userId="25ba328919d519d5" providerId="Windows Live" clId="Web-{577CCB79-AF28-4980-922A-B207E8D753DF}" dt="2026-09-19T19:09:34.612" v="2" actId="20577"/>
        <pc:sldMkLst>
          <pc:docMk/>
          <pc:sldMk cId="3098548442" sldId="327"/>
        </pc:sldMkLst>
        <pc:spChg chg="mod">
          <ac:chgData name="Mahima Aggarwal" userId="25ba328919d519d5" providerId="Windows Live" clId="Web-{577CCB79-AF28-4980-922A-B207E8D753DF}" dt="2026-09-19T19:09:34.612" v="2" actId="20577"/>
          <ac:spMkLst>
            <pc:docMk/>
            <pc:sldMk cId="3098548442" sldId="327"/>
            <ac:spMk id="2" creationId="{E46E4DD1-270B-4C80-AFF0-EB26F132AF36}"/>
          </ac:spMkLst>
        </pc:spChg>
      </pc:sldChg>
      <pc:sldChg chg="modSp">
        <pc:chgData name="Mahima Aggarwal" userId="25ba328919d519d5" providerId="Windows Live" clId="Web-{577CCB79-AF28-4980-922A-B207E8D753DF}" dt="2026-09-19T19:46:01.624" v="394" actId="20577"/>
        <pc:sldMkLst>
          <pc:docMk/>
          <pc:sldMk cId="48075006" sldId="329"/>
        </pc:sldMkLst>
        <pc:spChg chg="mod">
          <ac:chgData name="Mahima Aggarwal" userId="25ba328919d519d5" providerId="Windows Live" clId="Web-{577CCB79-AF28-4980-922A-B207E8D753DF}" dt="2026-09-19T19:46:01.624" v="394" actId="20577"/>
          <ac:spMkLst>
            <pc:docMk/>
            <pc:sldMk cId="48075006" sldId="329"/>
            <ac:spMk id="2" creationId="{664E3B60-2780-459A-8583-F095D5E7463A}"/>
          </ac:spMkLst>
        </pc:spChg>
      </pc:sldChg>
      <pc:sldChg chg="modSp">
        <pc:chgData name="Mahima Aggarwal" userId="25ba328919d519d5" providerId="Windows Live" clId="Web-{577CCB79-AF28-4980-922A-B207E8D753DF}" dt="2026-09-19T19:18:08.851" v="224" actId="1076"/>
        <pc:sldMkLst>
          <pc:docMk/>
          <pc:sldMk cId="1604013440" sldId="338"/>
        </pc:sldMkLst>
        <pc:spChg chg="mod">
          <ac:chgData name="Mahima Aggarwal" userId="25ba328919d519d5" providerId="Windows Live" clId="Web-{577CCB79-AF28-4980-922A-B207E8D753DF}" dt="2026-09-19T19:18:08.851" v="224" actId="1076"/>
          <ac:spMkLst>
            <pc:docMk/>
            <pc:sldMk cId="1604013440" sldId="338"/>
            <ac:spMk id="2" creationId="{7201737A-B873-4D1D-8A41-5ABF5184BC8F}"/>
          </ac:spMkLst>
        </pc:spChg>
        <pc:spChg chg="mod">
          <ac:chgData name="Mahima Aggarwal" userId="25ba328919d519d5" providerId="Windows Live" clId="Web-{577CCB79-AF28-4980-922A-B207E8D753DF}" dt="2026-09-19T19:12:12.353" v="17" actId="20577"/>
          <ac:spMkLst>
            <pc:docMk/>
            <pc:sldMk cId="1604013440" sldId="338"/>
            <ac:spMk id="4" creationId="{92056599-CDAA-4367-BEF8-31D6E32518C8}"/>
          </ac:spMkLst>
        </pc:spChg>
      </pc:sldChg>
      <pc:sldChg chg="modSp">
        <pc:chgData name="Mahima Aggarwal" userId="25ba328919d519d5" providerId="Windows Live" clId="Web-{577CCB79-AF28-4980-922A-B207E8D753DF}" dt="2026-09-19T19:41:03.671" v="371" actId="20577"/>
        <pc:sldMkLst>
          <pc:docMk/>
          <pc:sldMk cId="776828144" sldId="341"/>
        </pc:sldMkLst>
        <pc:spChg chg="mod">
          <ac:chgData name="Mahima Aggarwal" userId="25ba328919d519d5" providerId="Windows Live" clId="Web-{577CCB79-AF28-4980-922A-B207E8D753DF}" dt="2026-09-19T19:41:03.671" v="371" actId="20577"/>
          <ac:spMkLst>
            <pc:docMk/>
            <pc:sldMk cId="776828144" sldId="341"/>
            <ac:spMk id="4" creationId="{9B097C2C-D75A-31D4-CD9F-366F39CDE51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9/20/2026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9/20/2026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9/20/2026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9/20/2026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970656" y="3616265"/>
            <a:ext cx="9100995" cy="1538831"/>
          </a:xfrm>
        </p:spPr>
        <p:txBody>
          <a:bodyPr vert="horz" lIns="91440" tIns="45720" rIns="91440" bIns="45720" rtlCol="0" anchor="t">
            <a:normAutofit fontScale="70000" lnSpcReduction="20000"/>
          </a:bodyPr>
          <a:lstStyle/>
          <a:p>
            <a:pPr algn="ctr"/>
            <a:r>
              <a:rPr lang="en-IN" sz="3100" b="0" i="1" u="sng" dirty="0" smtClean="0">
                <a:solidFill>
                  <a:schemeClr val="tx1"/>
                </a:solidFill>
                <a:latin typeface="Calibri" panose="020F0502020204030204" pitchFamily="34" charset="0"/>
                <a:ea typeface="Calibri" panose="020F0502020204030204" pitchFamily="34" charset="0"/>
                <a:cs typeface="Calibri" panose="020F0502020204030204" pitchFamily="34" charset="0"/>
              </a:rPr>
              <a:t>Student Name : </a:t>
            </a:r>
          </a:p>
          <a:p>
            <a:pPr algn="ctr"/>
            <a:r>
              <a:rPr lang="en-IN" sz="2900" i="1" dirty="0" smtClean="0">
                <a:solidFill>
                  <a:schemeClr val="tx1"/>
                </a:solidFill>
                <a:latin typeface="Calibri" panose="020F0502020204030204" pitchFamily="34" charset="0"/>
                <a:ea typeface="Calibri" panose="020F0502020204030204" pitchFamily="34" charset="0"/>
                <a:cs typeface="Calibri" panose="020F0502020204030204" pitchFamily="34" charset="0"/>
              </a:rPr>
              <a:t>Rishabh Jain</a:t>
            </a:r>
          </a:p>
          <a:p>
            <a:pPr algn="ctr"/>
            <a:r>
              <a:rPr lang="en-IN" sz="3100" b="0" i="1" u="sng" dirty="0" smtClean="0">
                <a:solidFill>
                  <a:schemeClr val="tx1"/>
                </a:solidFill>
                <a:latin typeface="Calibri" panose="020F0502020204030204" pitchFamily="34" charset="0"/>
                <a:ea typeface="Calibri" panose="020F0502020204030204" pitchFamily="34" charset="0"/>
                <a:cs typeface="Calibri" panose="020F0502020204030204" pitchFamily="34" charset="0"/>
              </a:rPr>
              <a:t>College Name :</a:t>
            </a:r>
            <a:r>
              <a:rPr lang="en-IN" sz="3100" b="0" i="1" dirty="0" smtClean="0">
                <a:solidFill>
                  <a:schemeClr val="tx1"/>
                </a:solidFill>
                <a:latin typeface="Calibri" panose="020F0502020204030204" pitchFamily="34" charset="0"/>
                <a:ea typeface="Calibri" panose="020F0502020204030204" pitchFamily="34" charset="0"/>
                <a:cs typeface="Calibri" panose="020F0502020204030204" pitchFamily="34" charset="0"/>
              </a:rPr>
              <a:t> </a:t>
            </a:r>
          </a:p>
          <a:p>
            <a:pPr algn="ctr"/>
            <a:r>
              <a:rPr lang="en-US" sz="2600" b="0" i="1" dirty="0" smtClean="0">
                <a:solidFill>
                  <a:schemeClr val="tx1"/>
                </a:solidFill>
                <a:latin typeface="Calibri" panose="020F0502020204030204" pitchFamily="34" charset="0"/>
                <a:ea typeface="Calibri" panose="020F0502020204030204" pitchFamily="34" charset="0"/>
                <a:cs typeface="Calibri" panose="020F0502020204030204" pitchFamily="34" charset="0"/>
              </a:rPr>
              <a:t>University </a:t>
            </a:r>
            <a:r>
              <a:rPr lang="en-US" sz="2600" b="0" i="1" dirty="0">
                <a:solidFill>
                  <a:schemeClr val="tx1"/>
                </a:solidFill>
                <a:latin typeface="Calibri" panose="020F0502020204030204" pitchFamily="34" charset="0"/>
                <a:ea typeface="Calibri" panose="020F0502020204030204" pitchFamily="34" charset="0"/>
                <a:cs typeface="Calibri" panose="020F0502020204030204" pitchFamily="34" charset="0"/>
              </a:rPr>
              <a:t>Institute of Engineering and </a:t>
            </a:r>
            <a:r>
              <a:rPr lang="en-US" sz="2600" b="0" i="1" dirty="0" smtClean="0">
                <a:solidFill>
                  <a:schemeClr val="tx1"/>
                </a:solidFill>
                <a:latin typeface="Calibri" panose="020F0502020204030204" pitchFamily="34" charset="0"/>
                <a:ea typeface="Calibri" panose="020F0502020204030204" pitchFamily="34" charset="0"/>
                <a:cs typeface="Calibri" panose="020F0502020204030204" pitchFamily="34" charset="0"/>
              </a:rPr>
              <a:t>Technology, Kurukshetra </a:t>
            </a:r>
            <a:r>
              <a:rPr lang="en-US" sz="2600" b="0" i="1" dirty="0">
                <a:solidFill>
                  <a:schemeClr val="tx1"/>
                </a:solidFill>
                <a:latin typeface="Calibri" panose="020F0502020204030204" pitchFamily="34" charset="0"/>
                <a:ea typeface="Calibri" panose="020F0502020204030204" pitchFamily="34" charset="0"/>
                <a:cs typeface="Calibri" panose="020F0502020204030204" pitchFamily="34" charset="0"/>
              </a:rPr>
              <a:t>University</a:t>
            </a:r>
            <a:endParaRPr lang="en-IN" sz="2600" i="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484340" y="237600"/>
            <a:ext cx="8699862" cy="783032"/>
          </a:xfrm>
        </p:spPr>
        <p:txBody>
          <a:bodyPr>
            <a:normAutofit/>
          </a:bodyPr>
          <a:lstStyle/>
          <a:p>
            <a:pPr algn="ctr"/>
            <a:r>
              <a:rPr lang="en-GB" sz="4400" b="1" i="1" u="sng" dirty="0" smtClean="0">
                <a:latin typeface="Calibri" panose="020F0502020204030204" pitchFamily="34" charset="0"/>
                <a:ea typeface="Calibri" panose="020F0502020204030204" pitchFamily="34" charset="0"/>
                <a:cs typeface="Calibri" panose="020F0502020204030204" pitchFamily="34" charset="0"/>
              </a:rPr>
              <a:t>VOIS AICTE Project</a:t>
            </a:r>
            <a:endParaRPr lang="en-IN" sz="2400" u="sng" dirty="0">
              <a:ea typeface="+mn-lt"/>
              <a:cs typeface="+mn-lt"/>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2514533" y="5872749"/>
            <a:ext cx="6006614" cy="646331"/>
          </a:xfrm>
          <a:prstGeom prst="rect">
            <a:avLst/>
          </a:prstGeom>
          <a:noFill/>
        </p:spPr>
        <p:txBody>
          <a:bodyPr wrap="square" rtlCol="0">
            <a:spAutoFit/>
          </a:bodyPr>
          <a:lstStyle/>
          <a:p>
            <a:pPr algn="ctr"/>
            <a:r>
              <a:rPr lang="en-US" b="1" dirty="0">
                <a:latin typeface="Calibri" panose="020F0502020204030204" pitchFamily="34" charset="0"/>
                <a:ea typeface="Calibri" panose="020F0502020204030204" pitchFamily="34" charset="0"/>
                <a:cs typeface="Calibri" panose="020F0502020204030204" pitchFamily="34" charset="0"/>
              </a:rPr>
              <a:t>AICTE STU ID </a:t>
            </a:r>
            <a:r>
              <a:rPr lang="en-US" b="1" dirty="0" smtClean="0">
                <a:latin typeface="Calibri" panose="020F0502020204030204" pitchFamily="34" charset="0"/>
                <a:ea typeface="Calibri" panose="020F0502020204030204" pitchFamily="34" charset="0"/>
                <a:cs typeface="Calibri" panose="020F0502020204030204" pitchFamily="34" charset="0"/>
              </a:rPr>
              <a:t>: </a:t>
            </a:r>
          </a:p>
          <a:p>
            <a:pPr algn="ctr"/>
            <a:r>
              <a:rPr lang="en-US" dirty="0" smtClean="0">
                <a:latin typeface="Calibri" panose="020F0502020204030204" pitchFamily="34" charset="0"/>
                <a:ea typeface="Calibri" panose="020F0502020204030204" pitchFamily="34" charset="0"/>
                <a:cs typeface="Calibri" panose="020F0502020204030204" pitchFamily="34" charset="0"/>
              </a:rPr>
              <a:t>STU6a27ded24e6791780997842 </a:t>
            </a:r>
            <a:endParaRPr lang="en-US" b="1" dirty="0">
              <a:latin typeface="Calibri" panose="020F0502020204030204" pitchFamily="34" charset="0"/>
              <a:ea typeface="Calibri" panose="020F0502020204030204" pitchFamily="34" charset="0"/>
              <a:cs typeface="Calibri" panose="020F0502020204030204" pitchFamily="34" charset="0"/>
            </a:endParaRPr>
          </a:p>
        </p:txBody>
      </p:sp>
      <p:sp>
        <p:nvSpPr>
          <p:cNvPr id="7" name="Title 3">
            <a:extLst>
              <a:ext uri="{FF2B5EF4-FFF2-40B4-BE49-F238E27FC236}">
                <a16:creationId xmlns:a16="http://schemas.microsoft.com/office/drawing/2014/main" id="{92056599-CDAA-4367-BEF8-31D6E32518C8}"/>
              </a:ext>
            </a:extLst>
          </p:cNvPr>
          <p:cNvSpPr txBox="1">
            <a:spLocks/>
          </p:cNvSpPr>
          <p:nvPr/>
        </p:nvSpPr>
        <p:spPr>
          <a:xfrm>
            <a:off x="1171222" y="2817250"/>
            <a:ext cx="8699862" cy="783032"/>
          </a:xfrm>
          <a:prstGeom prst="rect">
            <a:avLst/>
          </a:prstGeom>
        </p:spPr>
        <p:txBody>
          <a:bodyPr vert="horz" lIns="91440" tIns="45720" rIns="91440" bIns="45720" rtlCol="0" anchor="t">
            <a:normAutofit/>
          </a:bodyPr>
          <a:lstStyle>
            <a:lvl1pPr algn="l" defTabSz="457200" rtl="0" eaLnBrk="1" latinLnBrk="0" hangingPunct="1">
              <a:spcBef>
                <a:spcPct val="0"/>
              </a:spcBef>
              <a:buNone/>
              <a:defRPr sz="2800" kern="1200">
                <a:solidFill>
                  <a:schemeClr val="tx1"/>
                </a:solidFill>
                <a:latin typeface="+mn-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IN" sz="3600" i="1" u="sng" dirty="0" smtClean="0">
                <a:latin typeface="Calibri" panose="020F0502020204030204" pitchFamily="34" charset="0"/>
                <a:ea typeface="Calibri" panose="020F0502020204030204" pitchFamily="34" charset="0"/>
                <a:cs typeface="Calibri" panose="020F0502020204030204" pitchFamily="34" charset="0"/>
              </a:rPr>
              <a:t>Seasonal Agriculture Performance Analysis</a:t>
            </a:r>
            <a:endParaRPr lang="en-IN" sz="3600" i="1" u="sng"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42" dur="500"/>
                                        <p:tgtEl>
                                          <p:spTgt spid="2">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47" dur="500"/>
                                        <p:tgtEl>
                                          <p:spTgt spid="2">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6" presetClass="entr" presetSubtype="0" fill="hold" grpId="0"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wipe(down)">
                                      <p:cBhvr>
                                        <p:cTn id="52" dur="580">
                                          <p:stCondLst>
                                            <p:cond delay="0"/>
                                          </p:stCondLst>
                                        </p:cTn>
                                        <p:tgtEl>
                                          <p:spTgt spid="7"/>
                                        </p:tgtEl>
                                      </p:cBhvr>
                                    </p:animEffect>
                                    <p:anim calcmode="lin" valueType="num">
                                      <p:cBhvr>
                                        <p:cTn id="53"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54"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55"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56"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57"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58" dur="26">
                                          <p:stCondLst>
                                            <p:cond delay="650"/>
                                          </p:stCondLst>
                                        </p:cTn>
                                        <p:tgtEl>
                                          <p:spTgt spid="7"/>
                                        </p:tgtEl>
                                      </p:cBhvr>
                                      <p:to x="100000" y="60000"/>
                                    </p:animScale>
                                    <p:animScale>
                                      <p:cBhvr>
                                        <p:cTn id="59" dur="166" decel="50000">
                                          <p:stCondLst>
                                            <p:cond delay="676"/>
                                          </p:stCondLst>
                                        </p:cTn>
                                        <p:tgtEl>
                                          <p:spTgt spid="7"/>
                                        </p:tgtEl>
                                      </p:cBhvr>
                                      <p:to x="100000" y="100000"/>
                                    </p:animScale>
                                    <p:animScale>
                                      <p:cBhvr>
                                        <p:cTn id="60" dur="26">
                                          <p:stCondLst>
                                            <p:cond delay="1312"/>
                                          </p:stCondLst>
                                        </p:cTn>
                                        <p:tgtEl>
                                          <p:spTgt spid="7"/>
                                        </p:tgtEl>
                                      </p:cBhvr>
                                      <p:to x="100000" y="80000"/>
                                    </p:animScale>
                                    <p:animScale>
                                      <p:cBhvr>
                                        <p:cTn id="61" dur="166" decel="50000">
                                          <p:stCondLst>
                                            <p:cond delay="1338"/>
                                          </p:stCondLst>
                                        </p:cTn>
                                        <p:tgtEl>
                                          <p:spTgt spid="7"/>
                                        </p:tgtEl>
                                      </p:cBhvr>
                                      <p:to x="100000" y="100000"/>
                                    </p:animScale>
                                    <p:animScale>
                                      <p:cBhvr>
                                        <p:cTn id="62" dur="26">
                                          <p:stCondLst>
                                            <p:cond delay="1642"/>
                                          </p:stCondLst>
                                        </p:cTn>
                                        <p:tgtEl>
                                          <p:spTgt spid="7"/>
                                        </p:tgtEl>
                                      </p:cBhvr>
                                      <p:to x="100000" y="90000"/>
                                    </p:animScale>
                                    <p:animScale>
                                      <p:cBhvr>
                                        <p:cTn id="63" dur="166" decel="50000">
                                          <p:stCondLst>
                                            <p:cond delay="1668"/>
                                          </p:stCondLst>
                                        </p:cTn>
                                        <p:tgtEl>
                                          <p:spTgt spid="7"/>
                                        </p:tgtEl>
                                      </p:cBhvr>
                                      <p:to x="100000" y="100000"/>
                                    </p:animScale>
                                    <p:animScale>
                                      <p:cBhvr>
                                        <p:cTn id="64" dur="26">
                                          <p:stCondLst>
                                            <p:cond delay="1808"/>
                                          </p:stCondLst>
                                        </p:cTn>
                                        <p:tgtEl>
                                          <p:spTgt spid="7"/>
                                        </p:tgtEl>
                                      </p:cBhvr>
                                      <p:to x="100000" y="95000"/>
                                    </p:animScale>
                                    <p:animScale>
                                      <p:cBhvr>
                                        <p:cTn id="65"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940904" y="1874301"/>
            <a:ext cx="7248940" cy="3607987"/>
          </a:xfrm>
        </p:spPr>
        <p:txBody>
          <a:bodyPr vert="horz" lIns="91440" tIns="45720" rIns="91440" bIns="45720" rtlCol="0" anchor="t">
            <a:noAutofit/>
          </a:bodyPr>
          <a:lstStyle/>
          <a:p>
            <a:pPr marL="0" indent="0">
              <a:lnSpc>
                <a:spcPct val="150000"/>
              </a:lnSpc>
              <a:buNone/>
            </a:pPr>
            <a:r>
              <a:rPr lang="en-IN" sz="1800" dirty="0">
                <a:latin typeface="Calibri" panose="020F0502020204030204" pitchFamily="34" charset="0"/>
                <a:ea typeface="Calibri" panose="020F0502020204030204" pitchFamily="34" charset="0"/>
                <a:cs typeface="Calibri" panose="020F0502020204030204" pitchFamily="34" charset="0"/>
              </a:rPr>
              <a:t>Agricultural activities are influenced by seasonal variations in environmental conditions, farming practices, resource availability and market conditions. As a result, agricultural performance may differ from one season to another. </a:t>
            </a:r>
            <a:endParaRPr lang="en-IN" sz="1800" dirty="0" smtClean="0">
              <a:latin typeface="Calibri" panose="020F0502020204030204" pitchFamily="34" charset="0"/>
              <a:ea typeface="Calibri" panose="020F0502020204030204" pitchFamily="34" charset="0"/>
              <a:cs typeface="Calibri" panose="020F0502020204030204" pitchFamily="34" charset="0"/>
            </a:endParaRPr>
          </a:p>
          <a:p>
            <a:pPr marL="0" indent="0">
              <a:lnSpc>
                <a:spcPct val="150000"/>
              </a:lnSpc>
              <a:buNone/>
            </a:pPr>
            <a:r>
              <a:rPr lang="en-IN" sz="1800" dirty="0" smtClean="0">
                <a:latin typeface="Calibri" panose="020F0502020204030204" pitchFamily="34" charset="0"/>
                <a:ea typeface="Calibri" panose="020F0502020204030204" pitchFamily="34" charset="0"/>
                <a:cs typeface="Calibri" panose="020F0502020204030204" pitchFamily="34" charset="0"/>
              </a:rPr>
              <a:t>However</a:t>
            </a:r>
            <a:r>
              <a:rPr lang="en-IN" sz="1800" dirty="0">
                <a:latin typeface="Calibri" panose="020F0502020204030204" pitchFamily="34" charset="0"/>
                <a:ea typeface="Calibri" panose="020F0502020204030204" pitchFamily="34" charset="0"/>
                <a:cs typeface="Calibri" panose="020F0502020204030204" pitchFamily="34" charset="0"/>
              </a:rPr>
              <a:t>, raw agricultural data does not clearly explain how agricultural performance changes across seasons or what patterns can be observed in different seasonal conditions. </a:t>
            </a:r>
            <a:endParaRPr lang="en-IN" sz="1800" dirty="0" smtClean="0">
              <a:latin typeface="Calibri" panose="020F0502020204030204" pitchFamily="34" charset="0"/>
              <a:ea typeface="Calibri" panose="020F0502020204030204" pitchFamily="34" charset="0"/>
              <a:cs typeface="Calibri" panose="020F0502020204030204" pitchFamily="34" charset="0"/>
            </a:endParaRPr>
          </a:p>
          <a:p>
            <a:pPr marL="0" indent="0">
              <a:lnSpc>
                <a:spcPct val="150000"/>
              </a:lnSpc>
              <a:buNone/>
            </a:pPr>
            <a:r>
              <a:rPr lang="en-IN" sz="1800" dirty="0" smtClean="0">
                <a:latin typeface="Calibri" panose="020F0502020204030204" pitchFamily="34" charset="0"/>
                <a:ea typeface="Calibri" panose="020F0502020204030204" pitchFamily="34" charset="0"/>
                <a:cs typeface="Calibri" panose="020F0502020204030204" pitchFamily="34" charset="0"/>
              </a:rPr>
              <a:t>The </a:t>
            </a:r>
            <a:r>
              <a:rPr lang="en-IN" sz="1800" dirty="0">
                <a:latin typeface="Calibri" panose="020F0502020204030204" pitchFamily="34" charset="0"/>
                <a:ea typeface="Calibri" panose="020F0502020204030204" pitchFamily="34" charset="0"/>
                <a:cs typeface="Calibri" panose="020F0502020204030204" pitchFamily="34" charset="0"/>
              </a:rPr>
              <a:t>problem is to </a:t>
            </a:r>
            <a:r>
              <a:rPr lang="en-IN" sz="1800" dirty="0" smtClean="0">
                <a:latin typeface="Calibri" panose="020F0502020204030204" pitchFamily="34" charset="0"/>
                <a:ea typeface="Calibri" panose="020F0502020204030204" pitchFamily="34" charset="0"/>
                <a:cs typeface="Calibri" panose="020F0502020204030204" pitchFamily="34" charset="0"/>
              </a:rPr>
              <a:t>analyse </a:t>
            </a:r>
            <a:r>
              <a:rPr lang="en-IN" sz="1800" dirty="0">
                <a:latin typeface="Calibri" panose="020F0502020204030204" pitchFamily="34" charset="0"/>
                <a:ea typeface="Calibri" panose="020F0502020204030204" pitchFamily="34" charset="0"/>
                <a:cs typeface="Calibri" panose="020F0502020204030204" pitchFamily="34" charset="0"/>
              </a:rPr>
              <a:t>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940904" y="492123"/>
            <a:ext cx="7802219" cy="790111"/>
          </a:xfrm>
        </p:spPr>
        <p:txBody>
          <a:bodyPr>
            <a:normAutofit/>
          </a:bodyPr>
          <a:lstStyle/>
          <a:p>
            <a:r>
              <a:rPr lang="en-US" sz="4400" i="1" u="sng" dirty="0" smtClean="0">
                <a:latin typeface="Calibri" panose="020F0502020204030204" pitchFamily="34" charset="0"/>
                <a:ea typeface="Calibri" panose="020F0502020204030204" pitchFamily="34" charset="0"/>
                <a:cs typeface="Calibri" panose="020F0502020204030204" pitchFamily="34" charset="0"/>
              </a:rPr>
              <a:t>PROBLEM</a:t>
            </a:r>
            <a:r>
              <a:rPr lang="en-US" sz="4400" i="1" u="sng" dirty="0"/>
              <a:t> </a:t>
            </a:r>
            <a:r>
              <a:rPr lang="en-US" sz="4400" i="1" u="sng" dirty="0" smtClean="0">
                <a:latin typeface="Calibri" panose="020F0502020204030204" pitchFamily="34" charset="0"/>
                <a:ea typeface="Calibri" panose="020F0502020204030204" pitchFamily="34" charset="0"/>
                <a:cs typeface="Calibri" panose="020F0502020204030204" pitchFamily="34" charset="0"/>
              </a:rPr>
              <a:t>STATEMENT</a:t>
            </a:r>
            <a:endParaRPr lang="en-IN" sz="4400" i="1" u="sng"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947740" y="442792"/>
            <a:ext cx="6266213" cy="642971"/>
          </a:xfrm>
        </p:spPr>
        <p:txBody>
          <a:bodyPr>
            <a:normAutofit fontScale="90000"/>
          </a:bodyPr>
          <a:lstStyle/>
          <a:p>
            <a:r>
              <a:rPr lang="en-GB" sz="4900" i="1" u="sng" dirty="0">
                <a:latin typeface="Calibri" panose="020F0502020204030204" pitchFamily="34" charset="0"/>
                <a:ea typeface="Calibri" panose="020F0502020204030204" pitchFamily="34" charset="0"/>
                <a:cs typeface="Calibri" panose="020F0502020204030204" pitchFamily="34" charset="0"/>
              </a:rPr>
              <a:t>Project Description</a:t>
            </a:r>
            <a:r>
              <a:rPr lang="en-GB" sz="1400" dirty="0">
                <a:latin typeface="Calibri" panose="020F0502020204030204" pitchFamily="34" charset="0"/>
                <a:ea typeface="Calibri" panose="020F0502020204030204" pitchFamily="34" charset="0"/>
                <a:cs typeface="Calibri" panose="020F0502020204030204" pitchFamily="34" charset="0"/>
              </a:rPr>
              <a:t/>
            </a:r>
            <a:br>
              <a:rPr lang="en-GB" sz="1400" dirty="0">
                <a:latin typeface="Calibri" panose="020F0502020204030204" pitchFamily="34" charset="0"/>
                <a:ea typeface="Calibri" panose="020F0502020204030204" pitchFamily="34" charset="0"/>
                <a:cs typeface="Calibri" panose="020F0502020204030204" pitchFamily="34" charset="0"/>
              </a:rPr>
            </a:br>
            <a:r>
              <a:rPr lang="en-GB" dirty="0" smtClean="0">
                <a:latin typeface="Calibri" panose="020F0502020204030204" pitchFamily="34" charset="0"/>
                <a:ea typeface="Calibri" panose="020F0502020204030204" pitchFamily="34" charset="0"/>
                <a:cs typeface="Calibri" panose="020F0502020204030204" pitchFamily="34" charset="0"/>
              </a:rPr>
              <a:t> </a:t>
            </a:r>
            <a:r>
              <a:rPr lang="en-GB" dirty="0" smtClean="0"/>
              <a:t/>
            </a:r>
            <a:br>
              <a:rPr lang="en-GB" dirty="0" smtClean="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itle 2">
            <a:extLst>
              <a:ext uri="{FF2B5EF4-FFF2-40B4-BE49-F238E27FC236}">
                <a16:creationId xmlns:a16="http://schemas.microsoft.com/office/drawing/2014/main" id="{EBF2FBC7-3552-4F01-BB27-8BEEE74F7277}"/>
              </a:ext>
            </a:extLst>
          </p:cNvPr>
          <p:cNvSpPr txBox="1">
            <a:spLocks/>
          </p:cNvSpPr>
          <p:nvPr/>
        </p:nvSpPr>
        <p:spPr>
          <a:xfrm>
            <a:off x="675956" y="1381855"/>
            <a:ext cx="8759592" cy="5028606"/>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285750" indent="-285750">
              <a:buFont typeface="Arial" panose="020B0604020202020204" pitchFamily="34" charset="0"/>
              <a:buChar char="•"/>
            </a:pPr>
            <a:r>
              <a:rPr lang="en-US" sz="1800" b="0" dirty="0">
                <a:latin typeface="Calibri" panose="020F0502020204030204" pitchFamily="34" charset="0"/>
                <a:ea typeface="Calibri" panose="020F0502020204030204" pitchFamily="34" charset="0"/>
                <a:cs typeface="Calibri" panose="020F0502020204030204" pitchFamily="34" charset="0"/>
              </a:rPr>
              <a:t>Seasonal Agriculture Performance Analysis is a</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dirty="0" smtClean="0">
                <a:latin typeface="Calibri" panose="020F0502020204030204" pitchFamily="34" charset="0"/>
                <a:ea typeface="Calibri" panose="020F0502020204030204" pitchFamily="34" charset="0"/>
                <a:cs typeface="Calibri" panose="020F0502020204030204" pitchFamily="34" charset="0"/>
              </a:rPr>
              <a:t>Data Analytics </a:t>
            </a:r>
            <a:r>
              <a:rPr lang="en-US" sz="1800" b="0" dirty="0">
                <a:latin typeface="Calibri" panose="020F0502020204030204" pitchFamily="34" charset="0"/>
                <a:ea typeface="Calibri" panose="020F0502020204030204" pitchFamily="34" charset="0"/>
                <a:cs typeface="Calibri" panose="020F0502020204030204" pitchFamily="34" charset="0"/>
              </a:rPr>
              <a:t>project focused on understanding how agricultural performance varies across different seasons, geographical areas, and farming conditions. The project uses agricultural data containing information about farming practices, environmental conditions, crop production, resource usage, and economic performance. </a:t>
            </a:r>
            <a:endParaRPr lang="en-US" sz="1800" b="0" dirty="0" smtClean="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800" b="0" dirty="0" smtClean="0">
                <a:latin typeface="Calibri" panose="020F0502020204030204" pitchFamily="34" charset="0"/>
                <a:ea typeface="Calibri" panose="020F0502020204030204" pitchFamily="34" charset="0"/>
                <a:cs typeface="Calibri" panose="020F0502020204030204" pitchFamily="34" charset="0"/>
              </a:rPr>
              <a:t>The </a:t>
            </a:r>
            <a:r>
              <a:rPr lang="en-US" sz="1800" b="0" dirty="0">
                <a:latin typeface="Calibri" panose="020F0502020204030204" pitchFamily="34" charset="0"/>
                <a:ea typeface="Calibri" panose="020F0502020204030204" pitchFamily="34" charset="0"/>
                <a:cs typeface="Calibri" panose="020F0502020204030204" pitchFamily="34" charset="0"/>
              </a:rPr>
              <a:t>analysis involves exploring, cleaning, and preparing the dataset, followed by identifying meaningful seasonal patterns, trends, relationships, variations, and differences in agricultural performance. Statistical analysis and data visualization techniques are used to compare agricultural outcomes across seasons and examine how environmental conditions, resource utilization, and other factors relate to agricultural performance. </a:t>
            </a:r>
            <a:endParaRPr lang="en-US" sz="1800" b="0" dirty="0" smtClean="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800" b="0" dirty="0" smtClean="0">
                <a:latin typeface="Calibri" panose="020F0502020204030204" pitchFamily="34" charset="0"/>
                <a:ea typeface="Calibri" panose="020F0502020204030204" pitchFamily="34" charset="0"/>
                <a:cs typeface="Calibri" panose="020F0502020204030204" pitchFamily="34" charset="0"/>
              </a:rPr>
              <a:t>The </a:t>
            </a:r>
            <a:r>
              <a:rPr lang="en-US" sz="1800" b="0" dirty="0">
                <a:latin typeface="Calibri" panose="020F0502020204030204" pitchFamily="34" charset="0"/>
                <a:ea typeface="Calibri" panose="020F0502020204030204" pitchFamily="34" charset="0"/>
                <a:cs typeface="Calibri" panose="020F0502020204030204" pitchFamily="34" charset="0"/>
              </a:rPr>
              <a:t>project aims to transform raw agricultural data into evidence-based insights that can help understand seasonal variations, identify significant or unusual patterns, compare performance across different periods and regions, and highlight areas requiring further investigation. </a:t>
            </a:r>
            <a:endParaRPr lang="en-US" sz="1800" b="0" dirty="0" smtClean="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800" b="0" dirty="0" smtClean="0">
                <a:latin typeface="Calibri" panose="020F0502020204030204" pitchFamily="34" charset="0"/>
                <a:ea typeface="Calibri" panose="020F0502020204030204" pitchFamily="34" charset="0"/>
                <a:cs typeface="Calibri" panose="020F0502020204030204" pitchFamily="34" charset="0"/>
              </a:rPr>
              <a:t>The </a:t>
            </a:r>
            <a:r>
              <a:rPr lang="en-US" sz="1800" b="0" dirty="0">
                <a:latin typeface="Calibri" panose="020F0502020204030204" pitchFamily="34" charset="0"/>
                <a:ea typeface="Calibri" panose="020F0502020204030204" pitchFamily="34" charset="0"/>
                <a:cs typeface="Calibri" panose="020F0502020204030204" pitchFamily="34" charset="0"/>
              </a:rPr>
              <a:t>final analysis provides data-driven conclusions and recommendations that can support better understanding and planning of seasonal agricultural </a:t>
            </a:r>
            <a:r>
              <a:rPr lang="en-US" sz="1800" b="0" dirty="0" smtClean="0">
                <a:latin typeface="Calibri" panose="020F0502020204030204" pitchFamily="34" charset="0"/>
                <a:ea typeface="Calibri" panose="020F0502020204030204" pitchFamily="34" charset="0"/>
                <a:cs typeface="Calibri" panose="020F0502020204030204" pitchFamily="34" charset="0"/>
              </a:rPr>
              <a:t>activities.</a:t>
            </a:r>
          </a:p>
          <a:p>
            <a:pPr marL="285750" indent="-285750">
              <a:buFont typeface="Arial" panose="020B0604020202020204" pitchFamily="34" charset="0"/>
              <a:buChar char="•"/>
            </a:pPr>
            <a:r>
              <a:rPr lang="en-US" sz="1800" b="0" dirty="0" smtClean="0">
                <a:latin typeface="Calibri" panose="020F0502020204030204" pitchFamily="34" charset="0"/>
                <a:ea typeface="Calibri" panose="020F0502020204030204" pitchFamily="34" charset="0"/>
                <a:cs typeface="Calibri" panose="020F0502020204030204" pitchFamily="34" charset="0"/>
              </a:rPr>
              <a:t>The </a:t>
            </a:r>
            <a:r>
              <a:rPr lang="en-US" sz="1800" b="0" dirty="0">
                <a:latin typeface="Calibri" panose="020F0502020204030204" pitchFamily="34" charset="0"/>
                <a:ea typeface="Calibri" panose="020F0502020204030204" pitchFamily="34" charset="0"/>
                <a:cs typeface="Calibri" panose="020F0502020204030204" pitchFamily="34" charset="0"/>
              </a:rPr>
              <a:t>complete analysis is documented and presented through a Jupyter Notebook.</a:t>
            </a:r>
            <a:endParaRPr lang="en-IN" sz="1800" b="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17782" y="1951604"/>
            <a:ext cx="7904481" cy="3990023"/>
          </a:xfrm>
        </p:spPr>
        <p:txBody>
          <a:bodyPr vert="horz" lIns="91440" tIns="45720" rIns="91440" bIns="45720" rtlCol="0" anchor="t">
            <a:noAutofit/>
          </a:bodyPr>
          <a:lstStyle/>
          <a:p>
            <a:pPr algn="just">
              <a:lnSpc>
                <a:spcPct val="150000"/>
              </a:lnSpc>
            </a:pPr>
            <a:r>
              <a:rPr lang="en-IN" sz="2400" i="1" dirty="0">
                <a:latin typeface="Calibri" panose="020F0502020204030204" pitchFamily="34" charset="0"/>
                <a:ea typeface="Calibri" panose="020F0502020204030204" pitchFamily="34" charset="0"/>
                <a:cs typeface="Calibri" panose="020F0502020204030204" pitchFamily="34" charset="0"/>
              </a:rPr>
              <a:t>Farmers </a:t>
            </a:r>
          </a:p>
          <a:p>
            <a:pPr algn="just">
              <a:lnSpc>
                <a:spcPct val="150000"/>
              </a:lnSpc>
            </a:pPr>
            <a:r>
              <a:rPr lang="en-IN" sz="2400" i="1" dirty="0">
                <a:latin typeface="Calibri" panose="020F0502020204030204" pitchFamily="34" charset="0"/>
                <a:ea typeface="Calibri" panose="020F0502020204030204" pitchFamily="34" charset="0"/>
                <a:cs typeface="Calibri" panose="020F0502020204030204" pitchFamily="34" charset="0"/>
              </a:rPr>
              <a:t>Agricultural Planners </a:t>
            </a:r>
          </a:p>
          <a:p>
            <a:pPr algn="just">
              <a:lnSpc>
                <a:spcPct val="150000"/>
              </a:lnSpc>
            </a:pPr>
            <a:r>
              <a:rPr lang="en-IN" sz="2400" i="1" dirty="0">
                <a:latin typeface="Calibri" panose="020F0502020204030204" pitchFamily="34" charset="0"/>
                <a:ea typeface="Calibri" panose="020F0502020204030204" pitchFamily="34" charset="0"/>
                <a:cs typeface="Calibri" panose="020F0502020204030204" pitchFamily="34" charset="0"/>
              </a:rPr>
              <a:t>Researchers </a:t>
            </a:r>
          </a:p>
          <a:p>
            <a:pPr algn="just">
              <a:lnSpc>
                <a:spcPct val="150000"/>
              </a:lnSpc>
            </a:pPr>
            <a:r>
              <a:rPr lang="en-IN" sz="2400" i="1" dirty="0">
                <a:latin typeface="Calibri" panose="020F0502020204030204" pitchFamily="34" charset="0"/>
                <a:ea typeface="Calibri" panose="020F0502020204030204" pitchFamily="34" charset="0"/>
                <a:cs typeface="Calibri" panose="020F0502020204030204" pitchFamily="34" charset="0"/>
              </a:rPr>
              <a:t>Government Agricultural Departments </a:t>
            </a:r>
          </a:p>
          <a:p>
            <a:pPr algn="just">
              <a:lnSpc>
                <a:spcPct val="150000"/>
              </a:lnSpc>
            </a:pPr>
            <a:r>
              <a:rPr lang="en-IN" sz="2400" i="1" dirty="0" smtClean="0">
                <a:latin typeface="Calibri" panose="020F0502020204030204" pitchFamily="34" charset="0"/>
                <a:ea typeface="Calibri" panose="020F0502020204030204" pitchFamily="34" charset="0"/>
                <a:cs typeface="Calibri" panose="020F0502020204030204" pitchFamily="34" charset="0"/>
              </a:rPr>
              <a:t>Agro Business </a:t>
            </a:r>
            <a:r>
              <a:rPr lang="en-IN" sz="2400" i="1" dirty="0">
                <a:latin typeface="Calibri" panose="020F0502020204030204" pitchFamily="34" charset="0"/>
                <a:ea typeface="Calibri" panose="020F0502020204030204" pitchFamily="34" charset="0"/>
                <a:cs typeface="Calibri" panose="020F0502020204030204" pitchFamily="34" charset="0"/>
              </a:rPr>
              <a:t>&amp; Resource Managers </a:t>
            </a:r>
          </a:p>
          <a:p>
            <a:pPr algn="just">
              <a:lnSpc>
                <a:spcPct val="150000"/>
              </a:lnSpc>
            </a:pPr>
            <a:r>
              <a:rPr lang="en-IN" sz="2400" i="1" dirty="0">
                <a:latin typeface="Calibri" panose="020F0502020204030204" pitchFamily="34" charset="0"/>
                <a:ea typeface="Calibri" panose="020F0502020204030204" pitchFamily="34" charset="0"/>
                <a:cs typeface="Calibri" panose="020F0502020204030204" pitchFamily="34" charset="0"/>
              </a:rPr>
              <a:t>Data Analysts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721359" y="585069"/>
            <a:ext cx="10046070" cy="802641"/>
          </a:xfrm>
        </p:spPr>
        <p:txBody>
          <a:bodyPr>
            <a:normAutofit/>
          </a:bodyPr>
          <a:lstStyle/>
          <a:p>
            <a:r>
              <a:rPr lang="en-US" sz="4400" i="1" u="sng" dirty="0">
                <a:latin typeface="Calibri" panose="020F0502020204030204" pitchFamily="34" charset="0"/>
                <a:ea typeface="Calibri" panose="020F0502020204030204" pitchFamily="34" charset="0"/>
                <a:cs typeface="Calibri" panose="020F0502020204030204" pitchFamily="34" charset="0"/>
              </a:rPr>
              <a:t>WHO ARE THE END USERS?</a:t>
            </a:r>
            <a:endParaRPr lang="en-IN" sz="4400" i="1" u="sng"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vert="horz" lIns="91440" tIns="45720" rIns="91440" bIns="45720" rtlCol="0" anchor="t">
            <a:normAutofit/>
          </a:bodyPr>
          <a:lstStyle/>
          <a:p>
            <a:pPr>
              <a:lnSpc>
                <a:spcPct val="100000"/>
              </a:lnSpc>
              <a:spcBef>
                <a:spcPct val="0"/>
              </a:spcBef>
            </a:pPr>
            <a:r>
              <a:rPr lang="en-GB" sz="2400" i="1" dirty="0">
                <a:solidFill>
                  <a:srgbClr val="000000"/>
                </a:solidFill>
                <a:latin typeface="Calibri" panose="020F0502020204030204" pitchFamily="34" charset="0"/>
                <a:ea typeface="Calibri" panose="020F0502020204030204" pitchFamily="34" charset="0"/>
                <a:cs typeface="Calibri" panose="020F0502020204030204" pitchFamily="34" charset="0"/>
              </a:rPr>
              <a:t>Python</a:t>
            </a:r>
            <a:endParaRPr lang="en-US" sz="2400" i="1" dirty="0">
              <a:latin typeface="Calibri" panose="020F0502020204030204" pitchFamily="34" charset="0"/>
              <a:ea typeface="Calibri" panose="020F0502020204030204" pitchFamily="34" charset="0"/>
              <a:cs typeface="Calibri" panose="020F0502020204030204" pitchFamily="34" charset="0"/>
            </a:endParaRPr>
          </a:p>
          <a:p>
            <a:pPr>
              <a:lnSpc>
                <a:spcPct val="100000"/>
              </a:lnSpc>
              <a:spcBef>
                <a:spcPct val="0"/>
              </a:spcBef>
            </a:pPr>
            <a:r>
              <a:rPr lang="en-GB" sz="2400" i="1" dirty="0">
                <a:solidFill>
                  <a:srgbClr val="000000"/>
                </a:solidFill>
                <a:latin typeface="Calibri" panose="020F0502020204030204" pitchFamily="34" charset="0"/>
                <a:ea typeface="Calibri" panose="020F0502020204030204" pitchFamily="34" charset="0"/>
                <a:cs typeface="Calibri" panose="020F0502020204030204" pitchFamily="34" charset="0"/>
              </a:rPr>
              <a:t>Numpy </a:t>
            </a:r>
          </a:p>
          <a:p>
            <a:pPr>
              <a:lnSpc>
                <a:spcPct val="100000"/>
              </a:lnSpc>
              <a:spcBef>
                <a:spcPct val="0"/>
              </a:spcBef>
            </a:pPr>
            <a:r>
              <a:rPr lang="en-GB" sz="2400" i="1" dirty="0">
                <a:solidFill>
                  <a:srgbClr val="000000"/>
                </a:solidFill>
                <a:latin typeface="Calibri" panose="020F0502020204030204" pitchFamily="34" charset="0"/>
                <a:ea typeface="Calibri" panose="020F0502020204030204" pitchFamily="34" charset="0"/>
                <a:cs typeface="Calibri" panose="020F0502020204030204" pitchFamily="34" charset="0"/>
              </a:rPr>
              <a:t>Pandas</a:t>
            </a:r>
          </a:p>
          <a:p>
            <a:pPr>
              <a:lnSpc>
                <a:spcPct val="100000"/>
              </a:lnSpc>
              <a:spcBef>
                <a:spcPct val="0"/>
              </a:spcBef>
            </a:pPr>
            <a:r>
              <a:rPr lang="en-GB" sz="2400" i="1" dirty="0">
                <a:solidFill>
                  <a:srgbClr val="000000"/>
                </a:solidFill>
                <a:latin typeface="Calibri" panose="020F0502020204030204" pitchFamily="34" charset="0"/>
                <a:ea typeface="Calibri" panose="020F0502020204030204" pitchFamily="34" charset="0"/>
                <a:cs typeface="Calibri" panose="020F0502020204030204" pitchFamily="34" charset="0"/>
              </a:rPr>
              <a:t>Matplotlib</a:t>
            </a:r>
          </a:p>
          <a:p>
            <a:pPr>
              <a:lnSpc>
                <a:spcPct val="100000"/>
              </a:lnSpc>
              <a:spcBef>
                <a:spcPct val="0"/>
              </a:spcBef>
            </a:pPr>
            <a:r>
              <a:rPr lang="en-GB" sz="2400" i="1" dirty="0">
                <a:solidFill>
                  <a:srgbClr val="000000"/>
                </a:solidFill>
                <a:latin typeface="Calibri" panose="020F0502020204030204" pitchFamily="34" charset="0"/>
                <a:ea typeface="Calibri" panose="020F0502020204030204" pitchFamily="34" charset="0"/>
                <a:cs typeface="Calibri" panose="020F0502020204030204" pitchFamily="34" charset="0"/>
              </a:rPr>
              <a:t>Seaborn</a:t>
            </a:r>
          </a:p>
          <a:p>
            <a:pPr>
              <a:lnSpc>
                <a:spcPct val="100000"/>
              </a:lnSpc>
              <a:spcBef>
                <a:spcPct val="0"/>
              </a:spcBef>
            </a:pPr>
            <a:r>
              <a:rPr lang="en-GB" sz="2400" i="1" dirty="0">
                <a:solidFill>
                  <a:srgbClr val="000000"/>
                </a:solidFill>
                <a:latin typeface="Calibri" panose="020F0502020204030204" pitchFamily="34" charset="0"/>
                <a:ea typeface="Calibri" panose="020F0502020204030204" pitchFamily="34" charset="0"/>
                <a:cs typeface="Calibri" panose="020F0502020204030204" pitchFamily="34" charset="0"/>
              </a:rPr>
              <a:t>Jupyter Notebook</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sz="4400" i="1" u="sng" dirty="0">
                <a:latin typeface="Calibri" panose="020F0502020204030204" pitchFamily="34" charset="0"/>
                <a:ea typeface="Calibri" panose="020F0502020204030204" pitchFamily="34" charset="0"/>
                <a:cs typeface="Calibri" panose="020F0502020204030204" pitchFamily="34" charset="0"/>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3664543" y="120289"/>
            <a:ext cx="2981643" cy="830997"/>
          </a:xfrm>
        </p:spPr>
        <p:txBody>
          <a:bodyPr>
            <a:normAutofit/>
          </a:bodyPr>
          <a:lstStyle/>
          <a:p>
            <a:pPr algn="ctr"/>
            <a:r>
              <a:rPr lang="en-GB" sz="4400" i="1" u="sng" dirty="0">
                <a:latin typeface="Calibri" panose="020F0502020204030204" pitchFamily="34" charset="0"/>
                <a:ea typeface="Calibri" panose="020F0502020204030204" pitchFamily="34" charset="0"/>
                <a:cs typeface="Calibri" panose="020F0502020204030204" pitchFamily="34" charset="0"/>
              </a:rPr>
              <a:t>RESULTS</a:t>
            </a: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4991" y="1275371"/>
            <a:ext cx="5500746" cy="5674978"/>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3664543" y="120289"/>
            <a:ext cx="2981643" cy="830997"/>
          </a:xfrm>
        </p:spPr>
        <p:txBody>
          <a:bodyPr>
            <a:normAutofit/>
          </a:bodyPr>
          <a:lstStyle/>
          <a:p>
            <a:pPr algn="ctr"/>
            <a:r>
              <a:rPr lang="en-GB" sz="4400" i="1" u="sng" dirty="0">
                <a:latin typeface="Calibri" panose="020F0502020204030204" pitchFamily="34" charset="0"/>
                <a:ea typeface="Calibri" panose="020F0502020204030204" pitchFamily="34" charset="0"/>
                <a:cs typeface="Calibri" panose="020F0502020204030204" pitchFamily="34" charset="0"/>
              </a:rPr>
              <a:t>RESULTS</a:t>
            </a: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824" y="1275371"/>
            <a:ext cx="8297079" cy="5122176"/>
          </a:xfrm>
          <a:prstGeom prst="rect">
            <a:avLst/>
          </a:prstGeom>
        </p:spPr>
      </p:pic>
    </p:spTree>
    <p:extLst>
      <p:ext uri="{BB962C8B-B14F-4D97-AF65-F5344CB8AC3E}">
        <p14:creationId xmlns:p14="http://schemas.microsoft.com/office/powerpoint/2010/main" val="2085871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3664543" y="120289"/>
            <a:ext cx="2981643" cy="830997"/>
          </a:xfrm>
        </p:spPr>
        <p:txBody>
          <a:bodyPr>
            <a:normAutofit/>
          </a:bodyPr>
          <a:lstStyle/>
          <a:p>
            <a:pPr algn="ctr"/>
            <a:r>
              <a:rPr lang="en-GB" sz="4400" i="1" u="sng" dirty="0">
                <a:latin typeface="Calibri" panose="020F0502020204030204" pitchFamily="34" charset="0"/>
                <a:ea typeface="Calibri" panose="020F0502020204030204" pitchFamily="34" charset="0"/>
                <a:cs typeface="Calibri" panose="020F0502020204030204" pitchFamily="34" charset="0"/>
              </a:rPr>
              <a:t>RESULTS</a:t>
            </a: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570" y="1227464"/>
            <a:ext cx="7041587" cy="5244456"/>
          </a:xfrm>
          <a:prstGeom prst="rect">
            <a:avLst/>
          </a:prstGeom>
        </p:spPr>
      </p:pic>
    </p:spTree>
    <p:extLst>
      <p:ext uri="{BB962C8B-B14F-4D97-AF65-F5344CB8AC3E}">
        <p14:creationId xmlns:p14="http://schemas.microsoft.com/office/powerpoint/2010/main" val="1364491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3664543" y="120289"/>
            <a:ext cx="2981643" cy="830997"/>
          </a:xfrm>
        </p:spPr>
        <p:txBody>
          <a:bodyPr>
            <a:normAutofit/>
          </a:bodyPr>
          <a:lstStyle/>
          <a:p>
            <a:pPr algn="ctr"/>
            <a:r>
              <a:rPr lang="en-GB" sz="4400" i="1" u="sng" dirty="0">
                <a:latin typeface="Calibri" panose="020F0502020204030204" pitchFamily="34" charset="0"/>
                <a:ea typeface="Calibri" panose="020F0502020204030204" pitchFamily="34" charset="0"/>
                <a:cs typeface="Calibri" panose="020F0502020204030204" pitchFamily="34" charset="0"/>
              </a:rPr>
              <a:t>RESULTS</a:t>
            </a: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9820" y="951286"/>
            <a:ext cx="6011088" cy="5705837"/>
          </a:xfrm>
          <a:prstGeom prst="rect">
            <a:avLst/>
          </a:prstGeom>
        </p:spPr>
      </p:pic>
    </p:spTree>
    <p:extLst>
      <p:ext uri="{BB962C8B-B14F-4D97-AF65-F5344CB8AC3E}">
        <p14:creationId xmlns:p14="http://schemas.microsoft.com/office/powerpoint/2010/main" val="1719865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3664543" y="120289"/>
            <a:ext cx="2981643" cy="830997"/>
          </a:xfrm>
        </p:spPr>
        <p:txBody>
          <a:bodyPr>
            <a:normAutofit/>
          </a:bodyPr>
          <a:lstStyle/>
          <a:p>
            <a:pPr algn="ctr"/>
            <a:r>
              <a:rPr lang="en-GB" sz="4400" i="1" u="sng" dirty="0">
                <a:latin typeface="Calibri" panose="020F0502020204030204" pitchFamily="34" charset="0"/>
                <a:ea typeface="Calibri" panose="020F0502020204030204" pitchFamily="34" charset="0"/>
                <a:cs typeface="Calibri" panose="020F0502020204030204" pitchFamily="34" charset="0"/>
              </a:rPr>
              <a:t>RESULTS</a:t>
            </a: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5784" y="1100692"/>
            <a:ext cx="6991138" cy="5576524"/>
          </a:xfrm>
          <a:prstGeom prst="rect">
            <a:avLst/>
          </a:prstGeom>
        </p:spPr>
      </p:pic>
    </p:spTree>
    <p:extLst>
      <p:ext uri="{BB962C8B-B14F-4D97-AF65-F5344CB8AC3E}">
        <p14:creationId xmlns:p14="http://schemas.microsoft.com/office/powerpoint/2010/main" val="4115766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980757" y="444374"/>
            <a:ext cx="4735798" cy="830997"/>
          </a:xfrm>
        </p:spPr>
        <p:txBody>
          <a:bodyPr>
            <a:normAutofit fontScale="90000"/>
          </a:bodyPr>
          <a:lstStyle/>
          <a:p>
            <a:r>
              <a:rPr lang="en-IN" sz="4900" i="1" u="sng" dirty="0">
                <a:latin typeface="Calibri" panose="020F0502020204030204" pitchFamily="34" charset="0"/>
                <a:ea typeface="Calibri" panose="020F0502020204030204" pitchFamily="34" charset="0"/>
                <a:cs typeface="Calibri" panose="020F0502020204030204" pitchFamily="34" charset="0"/>
              </a:rPr>
              <a:t>Future scope:</a:t>
            </a:r>
            <a:r>
              <a:rPr lang="en-IN" sz="4000" dirty="0">
                <a:latin typeface="Calibri" panose="020F0502020204030204" pitchFamily="34" charset="0"/>
                <a:ea typeface="Calibri" panose="020F0502020204030204" pitchFamily="34" charset="0"/>
                <a:cs typeface="Calibri" panose="020F0502020204030204" pitchFamily="34" charset="0"/>
              </a:rPr>
              <a:t/>
            </a:r>
            <a:br>
              <a:rPr lang="en-IN" sz="4000" dirty="0">
                <a:latin typeface="Calibri" panose="020F0502020204030204" pitchFamily="34" charset="0"/>
                <a:ea typeface="Calibri" panose="020F0502020204030204" pitchFamily="34" charset="0"/>
                <a:cs typeface="Calibri" panose="020F0502020204030204" pitchFamily="34" charset="0"/>
              </a:rPr>
            </a:br>
            <a:endParaRPr lang="en-IN" sz="14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itle 3">
            <a:extLst>
              <a:ext uri="{FF2B5EF4-FFF2-40B4-BE49-F238E27FC236}">
                <a16:creationId xmlns:a16="http://schemas.microsoft.com/office/drawing/2014/main" id="{9B097C2C-D75A-31D4-CD9F-366F39CDE51D}"/>
              </a:ext>
            </a:extLst>
          </p:cNvPr>
          <p:cNvSpPr txBox="1">
            <a:spLocks/>
          </p:cNvSpPr>
          <p:nvPr/>
        </p:nvSpPr>
        <p:spPr>
          <a:xfrm>
            <a:off x="675957" y="1381388"/>
            <a:ext cx="8627069" cy="4794125"/>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285750" indent="-285750">
              <a:buFont typeface="Arial" panose="020B0604020202020204" pitchFamily="34" charset="0"/>
              <a:buChar char="•"/>
            </a:pPr>
            <a:r>
              <a:rPr lang="en-US" sz="1800" b="0" i="1" u="sng" dirty="0" smtClean="0">
                <a:latin typeface="Calibri" panose="020F0502020204030204" pitchFamily="34" charset="0"/>
                <a:ea typeface="Calibri" panose="020F0502020204030204" pitchFamily="34" charset="0"/>
                <a:cs typeface="Calibri" panose="020F0502020204030204" pitchFamily="34" charset="0"/>
              </a:rPr>
              <a:t>Predictive </a:t>
            </a:r>
            <a:r>
              <a:rPr lang="en-US" sz="1800" b="0" i="1" u="sng" dirty="0">
                <a:latin typeface="Calibri" panose="020F0502020204030204" pitchFamily="34" charset="0"/>
                <a:ea typeface="Calibri" panose="020F0502020204030204" pitchFamily="34" charset="0"/>
                <a:cs typeface="Calibri" panose="020F0502020204030204" pitchFamily="34" charset="0"/>
              </a:rPr>
              <a:t>Analysis</a:t>
            </a:r>
            <a:r>
              <a:rPr lang="en-US" sz="1800" b="0" dirty="0">
                <a:latin typeface="Calibri" panose="020F0502020204030204" pitchFamily="34" charset="0"/>
                <a:ea typeface="Calibri" panose="020F0502020204030204" pitchFamily="34" charset="0"/>
                <a:cs typeface="Calibri" panose="020F0502020204030204" pitchFamily="34" charset="0"/>
              </a:rPr>
              <a:t>: Develop machine-learning models to predict agricultural performance and crop outcomes for upcoming seasons. </a:t>
            </a:r>
            <a:endParaRPr lang="en-US" sz="1800" b="0" dirty="0" smtClean="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800" b="0" i="1" u="sng" dirty="0" smtClean="0">
                <a:latin typeface="Calibri" panose="020F0502020204030204" pitchFamily="34" charset="0"/>
                <a:ea typeface="Calibri" panose="020F0502020204030204" pitchFamily="34" charset="0"/>
                <a:cs typeface="Calibri" panose="020F0502020204030204" pitchFamily="34" charset="0"/>
              </a:rPr>
              <a:t>Weather </a:t>
            </a:r>
            <a:r>
              <a:rPr lang="en-US" sz="1800" b="0" i="1" u="sng" dirty="0">
                <a:latin typeface="Calibri" panose="020F0502020204030204" pitchFamily="34" charset="0"/>
                <a:ea typeface="Calibri" panose="020F0502020204030204" pitchFamily="34" charset="0"/>
                <a:cs typeface="Calibri" panose="020F0502020204030204" pitchFamily="34" charset="0"/>
              </a:rPr>
              <a:t>Integration</a:t>
            </a:r>
            <a:r>
              <a:rPr lang="en-US" sz="1800" b="0" dirty="0">
                <a:latin typeface="Calibri" panose="020F0502020204030204" pitchFamily="34" charset="0"/>
                <a:ea typeface="Calibri" panose="020F0502020204030204" pitchFamily="34" charset="0"/>
                <a:cs typeface="Calibri" panose="020F0502020204030204" pitchFamily="34" charset="0"/>
              </a:rPr>
              <a:t>: Incorporate real-time weather and climate data to study the impact of changing environmental conditions. </a:t>
            </a:r>
            <a:endParaRPr lang="en-US" sz="1800" b="0" dirty="0" smtClean="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800" b="0" i="1" u="sng" dirty="0" smtClean="0">
                <a:latin typeface="Calibri" panose="020F0502020204030204" pitchFamily="34" charset="0"/>
                <a:ea typeface="Calibri" panose="020F0502020204030204" pitchFamily="34" charset="0"/>
                <a:cs typeface="Calibri" panose="020F0502020204030204" pitchFamily="34" charset="0"/>
              </a:rPr>
              <a:t>Regional </a:t>
            </a:r>
            <a:r>
              <a:rPr lang="en-US" sz="1800" b="0" i="1" u="sng" dirty="0">
                <a:latin typeface="Calibri" panose="020F0502020204030204" pitchFamily="34" charset="0"/>
                <a:ea typeface="Calibri" panose="020F0502020204030204" pitchFamily="34" charset="0"/>
                <a:cs typeface="Calibri" panose="020F0502020204030204" pitchFamily="34" charset="0"/>
              </a:rPr>
              <a:t>Comparison</a:t>
            </a:r>
            <a:r>
              <a:rPr lang="en-US" sz="1800" b="0" dirty="0">
                <a:latin typeface="Calibri" panose="020F0502020204030204" pitchFamily="34" charset="0"/>
                <a:ea typeface="Calibri" panose="020F0502020204030204" pitchFamily="34" charset="0"/>
                <a:cs typeface="Calibri" panose="020F0502020204030204" pitchFamily="34" charset="0"/>
              </a:rPr>
              <a:t>: Expand the analysis to more geographical regions and compare seasonal agricultural performance. </a:t>
            </a:r>
            <a:endParaRPr lang="en-US" sz="1800" b="0" dirty="0" smtClean="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800" b="0" i="1" u="sng" dirty="0" smtClean="0">
                <a:latin typeface="Calibri" panose="020F0502020204030204" pitchFamily="34" charset="0"/>
                <a:ea typeface="Calibri" panose="020F0502020204030204" pitchFamily="34" charset="0"/>
                <a:cs typeface="Calibri" panose="020F0502020204030204" pitchFamily="34" charset="0"/>
              </a:rPr>
              <a:t>Crop-Level </a:t>
            </a:r>
            <a:r>
              <a:rPr lang="en-US" sz="1800" b="0" i="1" u="sng" dirty="0">
                <a:latin typeface="Calibri" panose="020F0502020204030204" pitchFamily="34" charset="0"/>
                <a:ea typeface="Calibri" panose="020F0502020204030204" pitchFamily="34" charset="0"/>
                <a:cs typeface="Calibri" panose="020F0502020204030204" pitchFamily="34" charset="0"/>
              </a:rPr>
              <a:t>Analysis</a:t>
            </a:r>
            <a:r>
              <a:rPr lang="en-US" sz="1800" b="0" dirty="0">
                <a:latin typeface="Calibri" panose="020F0502020204030204" pitchFamily="34" charset="0"/>
                <a:ea typeface="Calibri" panose="020F0502020204030204" pitchFamily="34" charset="0"/>
                <a:cs typeface="Calibri" panose="020F0502020204030204" pitchFamily="34" charset="0"/>
              </a:rPr>
              <a:t>: Analyze individual crops to identify which crops perform differently under specific seasonal conditions. </a:t>
            </a:r>
            <a:endParaRPr lang="en-US" sz="1800" b="0" dirty="0" smtClean="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800" b="0" i="1" u="sng" dirty="0" smtClean="0">
                <a:latin typeface="Calibri" panose="020F0502020204030204" pitchFamily="34" charset="0"/>
                <a:ea typeface="Calibri" panose="020F0502020204030204" pitchFamily="34" charset="0"/>
                <a:cs typeface="Calibri" panose="020F0502020204030204" pitchFamily="34" charset="0"/>
              </a:rPr>
              <a:t>Resource </a:t>
            </a:r>
            <a:r>
              <a:rPr lang="en-US" sz="1800" b="0" i="1" u="sng" dirty="0">
                <a:latin typeface="Calibri" panose="020F0502020204030204" pitchFamily="34" charset="0"/>
                <a:ea typeface="Calibri" panose="020F0502020204030204" pitchFamily="34" charset="0"/>
                <a:cs typeface="Calibri" panose="020F0502020204030204" pitchFamily="34" charset="0"/>
              </a:rPr>
              <a:t>Optimization</a:t>
            </a:r>
            <a:r>
              <a:rPr lang="en-US" sz="1800" b="0" dirty="0">
                <a:latin typeface="Calibri" panose="020F0502020204030204" pitchFamily="34" charset="0"/>
                <a:ea typeface="Calibri" panose="020F0502020204030204" pitchFamily="34" charset="0"/>
                <a:cs typeface="Calibri" panose="020F0502020204030204" pitchFamily="34" charset="0"/>
              </a:rPr>
              <a:t>: Study water, fertilizer, land, and other resource usage to identify opportunities for more efficient utilization. </a:t>
            </a:r>
            <a:endParaRPr lang="en-US" sz="1800" b="0" dirty="0" smtClean="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800" b="0" i="1" u="sng" dirty="0" smtClean="0">
                <a:latin typeface="Calibri" panose="020F0502020204030204" pitchFamily="34" charset="0"/>
                <a:ea typeface="Calibri" panose="020F0502020204030204" pitchFamily="34" charset="0"/>
                <a:cs typeface="Calibri" panose="020F0502020204030204" pitchFamily="34" charset="0"/>
              </a:rPr>
              <a:t>Economic </a:t>
            </a:r>
            <a:r>
              <a:rPr lang="en-US" sz="1800" b="0" i="1" u="sng" dirty="0">
                <a:latin typeface="Calibri" panose="020F0502020204030204" pitchFamily="34" charset="0"/>
                <a:ea typeface="Calibri" panose="020F0502020204030204" pitchFamily="34" charset="0"/>
                <a:cs typeface="Calibri" panose="020F0502020204030204" pitchFamily="34" charset="0"/>
              </a:rPr>
              <a:t>Forecasting</a:t>
            </a:r>
            <a:r>
              <a:rPr lang="en-US" sz="1800" b="0" dirty="0">
                <a:latin typeface="Calibri" panose="020F0502020204030204" pitchFamily="34" charset="0"/>
                <a:ea typeface="Calibri" panose="020F0502020204030204" pitchFamily="34" charset="0"/>
                <a:cs typeface="Calibri" panose="020F0502020204030204" pitchFamily="34" charset="0"/>
              </a:rPr>
              <a:t>: Extend the project to predict crop prices, revenue, and profitability across different seasons. </a:t>
            </a:r>
            <a:endParaRPr lang="en-US" sz="1800" b="0" dirty="0" smtClean="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800" b="0" i="1" u="sng" dirty="0" smtClean="0">
                <a:latin typeface="Calibri" panose="020F0502020204030204" pitchFamily="34" charset="0"/>
                <a:ea typeface="Calibri" panose="020F0502020204030204" pitchFamily="34" charset="0"/>
                <a:cs typeface="Calibri" panose="020F0502020204030204" pitchFamily="34" charset="0"/>
              </a:rPr>
              <a:t>Interactive </a:t>
            </a:r>
            <a:r>
              <a:rPr lang="en-US" sz="1800" b="0" i="1" u="sng" dirty="0">
                <a:latin typeface="Calibri" panose="020F0502020204030204" pitchFamily="34" charset="0"/>
                <a:ea typeface="Calibri" panose="020F0502020204030204" pitchFamily="34" charset="0"/>
                <a:cs typeface="Calibri" panose="020F0502020204030204" pitchFamily="34" charset="0"/>
              </a:rPr>
              <a:t>Dashboard</a:t>
            </a:r>
            <a:r>
              <a:rPr lang="en-US" sz="1800" b="0" dirty="0">
                <a:latin typeface="Calibri" panose="020F0502020204030204" pitchFamily="34" charset="0"/>
                <a:ea typeface="Calibri" panose="020F0502020204030204" pitchFamily="34" charset="0"/>
                <a:cs typeface="Calibri" panose="020F0502020204030204" pitchFamily="34" charset="0"/>
              </a:rPr>
              <a:t>: Develop an interactive dashboard using tools such as Power BI, Tableau, or </a:t>
            </a:r>
            <a:r>
              <a:rPr lang="en-US" sz="1800" b="0" dirty="0" smtClean="0">
                <a:latin typeface="Calibri" panose="020F0502020204030204" pitchFamily="34" charset="0"/>
                <a:ea typeface="Calibri" panose="020F0502020204030204" pitchFamily="34" charset="0"/>
                <a:cs typeface="Calibri" panose="020F0502020204030204" pitchFamily="34" charset="0"/>
              </a:rPr>
              <a:t>Stream lit </a:t>
            </a:r>
            <a:r>
              <a:rPr lang="en-US" sz="1800" b="0" dirty="0">
                <a:latin typeface="Calibri" panose="020F0502020204030204" pitchFamily="34" charset="0"/>
                <a:ea typeface="Calibri" panose="020F0502020204030204" pitchFamily="34" charset="0"/>
                <a:cs typeface="Calibri" panose="020F0502020204030204" pitchFamily="34" charset="0"/>
              </a:rPr>
              <a:t>for real-time exploration of agricultural insights. </a:t>
            </a:r>
            <a:endParaRPr lang="en-US" sz="1800" b="0" dirty="0" smtClean="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800" b="0" i="1" u="sng" dirty="0" smtClean="0">
                <a:latin typeface="Calibri" panose="020F0502020204030204" pitchFamily="34" charset="0"/>
                <a:ea typeface="Calibri" panose="020F0502020204030204" pitchFamily="34" charset="0"/>
                <a:cs typeface="Calibri" panose="020F0502020204030204" pitchFamily="34" charset="0"/>
              </a:rPr>
              <a:t>Decision-Support </a:t>
            </a:r>
            <a:r>
              <a:rPr lang="en-US" sz="1800" b="0" i="1" u="sng" dirty="0">
                <a:latin typeface="Calibri" panose="020F0502020204030204" pitchFamily="34" charset="0"/>
                <a:ea typeface="Calibri" panose="020F0502020204030204" pitchFamily="34" charset="0"/>
                <a:cs typeface="Calibri" panose="020F0502020204030204" pitchFamily="34" charset="0"/>
              </a:rPr>
              <a:t>System</a:t>
            </a:r>
            <a:r>
              <a:rPr lang="en-US" sz="1800" b="0" dirty="0">
                <a:latin typeface="Calibri" panose="020F0502020204030204" pitchFamily="34" charset="0"/>
                <a:ea typeface="Calibri" panose="020F0502020204030204" pitchFamily="34" charset="0"/>
                <a:cs typeface="Calibri" panose="020F0502020204030204" pitchFamily="34" charset="0"/>
              </a:rPr>
              <a:t>: Build a data-driven system that can provide farmers and agricultural stakeholders with seasonal insights and planning support.</a:t>
            </a:r>
            <a:endParaRPr lang="en-IN" sz="1800" b="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p:cTn id="28" dur="500" fill="hold"/>
                                        <p:tgtEl>
                                          <p:spTgt spid="6"/>
                                        </p:tgtEl>
                                        <p:attrNameLst>
                                          <p:attrName>ppt_w</p:attrName>
                                        </p:attrNameLst>
                                      </p:cBhvr>
                                      <p:tavLst>
                                        <p:tav tm="0">
                                          <p:val>
                                            <p:fltVal val="0"/>
                                          </p:val>
                                        </p:tav>
                                        <p:tav tm="100000">
                                          <p:val>
                                            <p:strVal val="#ppt_w"/>
                                          </p:val>
                                        </p:tav>
                                      </p:tavLst>
                                    </p:anim>
                                    <p:anim calcmode="lin" valueType="num">
                                      <p:cBhvr>
                                        <p:cTn id="29" dur="500" fill="hold"/>
                                        <p:tgtEl>
                                          <p:spTgt spid="6"/>
                                        </p:tgtEl>
                                        <p:attrNameLst>
                                          <p:attrName>ppt_h</p:attrName>
                                        </p:attrNameLst>
                                      </p:cBhvr>
                                      <p:tavLst>
                                        <p:tav tm="0">
                                          <p:val>
                                            <p:fltVal val="0"/>
                                          </p:val>
                                        </p:tav>
                                        <p:tav tm="100000">
                                          <p:val>
                                            <p:strVal val="#ppt_h"/>
                                          </p:val>
                                        </p:tav>
                                      </p:tavLst>
                                    </p:anim>
                                    <p:animEffect transition="in" filter="fade">
                                      <p:cBhvr>
                                        <p:cTn id="3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3193870" y="198310"/>
            <a:ext cx="4735798" cy="830997"/>
          </a:xfrm>
        </p:spPr>
        <p:txBody>
          <a:bodyPr>
            <a:normAutofit/>
          </a:bodyPr>
          <a:lstStyle/>
          <a:p>
            <a:pPr algn="ctr"/>
            <a:r>
              <a:rPr lang="en-IN" sz="4400" i="1" u="sng" dirty="0">
                <a:latin typeface="Calibri" panose="020F0502020204030204" pitchFamily="34" charset="0"/>
                <a:ea typeface="Calibri" panose="020F0502020204030204" pitchFamily="34" charset="0"/>
                <a:cs typeface="Calibri" panose="020F0502020204030204" pitchFamily="34" charset="0"/>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301875"/>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itle 3">
            <a:extLst>
              <a:ext uri="{FF2B5EF4-FFF2-40B4-BE49-F238E27FC236}">
                <a16:creationId xmlns:a16="http://schemas.microsoft.com/office/drawing/2014/main" id="{901A2257-2F98-CB88-038E-C0F1D0A1A363}"/>
              </a:ext>
            </a:extLst>
          </p:cNvPr>
          <p:cNvSpPr txBox="1">
            <a:spLocks/>
          </p:cNvSpPr>
          <p:nvPr/>
        </p:nvSpPr>
        <p:spPr>
          <a:xfrm>
            <a:off x="1148795" y="2471058"/>
            <a:ext cx="8825947" cy="2114194"/>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IN" sz="4400" b="0" i="1" dirty="0">
                <a:latin typeface="Calibri" panose="020F0502020204030204" pitchFamily="34" charset="0"/>
                <a:ea typeface="Calibri" panose="020F0502020204030204" pitchFamily="34" charset="0"/>
                <a:cs typeface="Calibri" panose="020F0502020204030204" pitchFamily="34" charset="0"/>
              </a:rPr>
              <a:t>https://github.com/rj-rishabhjain/Seasonal-Agriculture-Performance-Analysis.git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p:cTn id="28" dur="500" fill="hold"/>
                                        <p:tgtEl>
                                          <p:spTgt spid="6"/>
                                        </p:tgtEl>
                                        <p:attrNameLst>
                                          <p:attrName>ppt_w</p:attrName>
                                        </p:attrNameLst>
                                      </p:cBhvr>
                                      <p:tavLst>
                                        <p:tav tm="0">
                                          <p:val>
                                            <p:fltVal val="0"/>
                                          </p:val>
                                        </p:tav>
                                        <p:tav tm="100000">
                                          <p:val>
                                            <p:strVal val="#ppt_w"/>
                                          </p:val>
                                        </p:tav>
                                      </p:tavLst>
                                    </p:anim>
                                    <p:anim calcmode="lin" valueType="num">
                                      <p:cBhvr>
                                        <p:cTn id="29" dur="500" fill="hold"/>
                                        <p:tgtEl>
                                          <p:spTgt spid="6"/>
                                        </p:tgtEl>
                                        <p:attrNameLst>
                                          <p:attrName>ppt_h</p:attrName>
                                        </p:attrNameLst>
                                      </p:cBhvr>
                                      <p:tavLst>
                                        <p:tav tm="0">
                                          <p:val>
                                            <p:fltVal val="0"/>
                                          </p:val>
                                        </p:tav>
                                        <p:tav tm="100000">
                                          <p:val>
                                            <p:strVal val="#ppt_h"/>
                                          </p:val>
                                        </p:tav>
                                      </p:tavLst>
                                    </p:anim>
                                    <p:animEffect transition="in" filter="fade">
                                      <p:cBhvr>
                                        <p:cTn id="3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1128951" y="230714"/>
            <a:ext cx="8733086" cy="884658"/>
          </a:xfrm>
        </p:spPr>
        <p:txBody>
          <a:bodyPr>
            <a:noAutofit/>
          </a:bodyPr>
          <a:lstStyle/>
          <a:p>
            <a:pPr algn="ctr"/>
            <a:r>
              <a:rPr lang="en-IN" sz="4400" i="1" u="sng" dirty="0">
                <a:latin typeface="Calibri" panose="020F0502020204030204" pitchFamily="34" charset="0"/>
                <a:ea typeface="Calibri" panose="020F0502020204030204" pitchFamily="34" charset="0"/>
                <a:cs typeface="Calibri" panose="020F0502020204030204" pitchFamily="34" charset="0"/>
              </a:rPr>
              <a:t>VOIS Course </a:t>
            </a:r>
            <a:r>
              <a:rPr lang="en-IN" sz="4400" i="1" u="sng" dirty="0" smtClean="0">
                <a:latin typeface="Calibri" panose="020F0502020204030204" pitchFamily="34" charset="0"/>
                <a:ea typeface="Calibri" panose="020F0502020204030204" pitchFamily="34" charset="0"/>
                <a:cs typeface="Calibri" panose="020F0502020204030204" pitchFamily="34" charset="0"/>
              </a:rPr>
              <a:t>Completion </a:t>
            </a:r>
            <a:r>
              <a:rPr lang="en-IN" sz="4400" i="1" u="sng" dirty="0">
                <a:latin typeface="Calibri" panose="020F0502020204030204" pitchFamily="34" charset="0"/>
                <a:ea typeface="Calibri" panose="020F0502020204030204" pitchFamily="34" charset="0"/>
                <a:cs typeface="Calibri" panose="020F0502020204030204" pitchFamily="34" charset="0"/>
              </a:rPr>
              <a:t>C</a:t>
            </a:r>
            <a:r>
              <a:rPr lang="en-IN" sz="4400" i="1" u="sng" dirty="0" smtClean="0">
                <a:latin typeface="Calibri" panose="020F0502020204030204" pitchFamily="34" charset="0"/>
                <a:ea typeface="Calibri" panose="020F0502020204030204" pitchFamily="34" charset="0"/>
                <a:cs typeface="Calibri" panose="020F0502020204030204" pitchFamily="34" charset="0"/>
              </a:rPr>
              <a:t>ertificate  </a:t>
            </a:r>
            <a:r>
              <a:rPr lang="en-IN" sz="4400" b="0" i="1" u="sng" dirty="0">
                <a:latin typeface="Calibri" panose="020F0502020204030204" pitchFamily="34" charset="0"/>
                <a:ea typeface="Calibri" panose="020F0502020204030204" pitchFamily="34" charset="0"/>
                <a:cs typeface="Calibri" panose="020F0502020204030204" pitchFamily="34" charset="0"/>
              </a:rPr>
              <a:t/>
            </a:r>
            <a:br>
              <a:rPr lang="en-IN" sz="4400" b="0" i="1" u="sng" dirty="0">
                <a:latin typeface="Calibri" panose="020F0502020204030204" pitchFamily="34" charset="0"/>
                <a:ea typeface="Calibri" panose="020F0502020204030204" pitchFamily="34" charset="0"/>
                <a:cs typeface="Calibri" panose="020F0502020204030204" pitchFamily="34" charset="0"/>
              </a:rPr>
            </a:br>
            <a:r>
              <a:rPr lang="en-IN" sz="3200" b="0" i="1" u="sng" dirty="0">
                <a:latin typeface="Calibri" panose="020F0502020204030204" pitchFamily="34" charset="0"/>
                <a:ea typeface="Calibri" panose="020F0502020204030204" pitchFamily="34" charset="0"/>
                <a:cs typeface="Calibri" panose="020F0502020204030204" pitchFamily="34" charset="0"/>
              </a:rPr>
              <a:t>Course </a:t>
            </a:r>
            <a:r>
              <a:rPr lang="en-IN" sz="3200" b="0" i="1" u="sng" dirty="0" smtClean="0">
                <a:latin typeface="Calibri" panose="020F0502020204030204" pitchFamily="34" charset="0"/>
                <a:ea typeface="Calibri" panose="020F0502020204030204" pitchFamily="34" charset="0"/>
                <a:cs typeface="Calibri" panose="020F0502020204030204" pitchFamily="34" charset="0"/>
              </a:rPr>
              <a:t>name : </a:t>
            </a:r>
            <a:r>
              <a:rPr lang="en-IN" sz="3200" b="0" i="1" u="sng" dirty="0">
                <a:latin typeface="Calibri" panose="020F0502020204030204" pitchFamily="34" charset="0"/>
                <a:ea typeface="Calibri" panose="020F0502020204030204" pitchFamily="34" charset="0"/>
                <a:cs typeface="Calibri" panose="020F0502020204030204" pitchFamily="34" charset="0"/>
              </a:rPr>
              <a:t>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2762" y="1595370"/>
            <a:ext cx="7005464" cy="497307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77078" y="3037024"/>
            <a:ext cx="10253980" cy="700114"/>
          </a:xfrm>
          <a:prstGeom prst="rect">
            <a:avLst/>
          </a:prstGeom>
        </p:spPr>
        <p:txBody>
          <a:bodyPr anchor="ctr">
            <a:noAutofit/>
          </a:bodyPr>
          <a:lstStyle/>
          <a:p>
            <a:pPr algn="ctr"/>
            <a:r>
              <a:rPr lang="en-US" sz="11500" b="1" i="1" u="sng" dirty="0">
                <a:solidFill>
                  <a:schemeClr val="tx1"/>
                </a:solidFill>
                <a:latin typeface="Calibri" panose="020F0502020204030204" pitchFamily="34" charset="0"/>
                <a:ea typeface="Calibri" panose="020F0502020204030204" pitchFamily="34" charset="0"/>
                <a:cs typeface="Calibri" panose="020F0502020204030204" pitchFamily="34" charset="0"/>
              </a:rPr>
              <a:t>Thank </a:t>
            </a:r>
            <a:r>
              <a:rPr lang="en-US" sz="11500" b="1" i="1" u="sng" dirty="0" smtClean="0">
                <a:solidFill>
                  <a:schemeClr val="tx1"/>
                </a:solidFill>
                <a:latin typeface="Calibri" panose="020F0502020204030204" pitchFamily="34" charset="0"/>
                <a:ea typeface="Calibri" panose="020F0502020204030204" pitchFamily="34" charset="0"/>
                <a:cs typeface="Calibri" panose="020F0502020204030204" pitchFamily="34" charset="0"/>
              </a:rPr>
              <a:t>You</a:t>
            </a:r>
            <a:endParaRPr lang="en-US" sz="11500" b="1" i="1" u="sng"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purl.org/dc/elements/1.1/"/>
    <ds:schemaRef ds:uri="http://schemas.microsoft.com/office/2006/documentManagement/types"/>
    <ds:schemaRef ds:uri="http://www.w3.org/XML/1998/namespace"/>
    <ds:schemaRef ds:uri="http://schemas.microsoft.com/office/2006/metadata/properties"/>
    <ds:schemaRef ds:uri="71af3243-3dd4-4a8d-8c0d-dd76da1f02a5"/>
    <ds:schemaRef ds:uri="http://purl.org/dc/dcmitype/"/>
    <ds:schemaRef ds:uri="http://schemas.openxmlformats.org/package/2006/metadata/core-properties"/>
    <ds:schemaRef ds:uri="http://purl.org/dc/terms/"/>
    <ds:schemaRef ds:uri="http://schemas.microsoft.com/office/infopath/2007/PartnerControls"/>
    <ds:schemaRef ds:uri="16c05727-aa75-4e4a-9b5f-8a80a1165891"/>
  </ds:schemaRefs>
</ds:datastoreItem>
</file>

<file path=docProps/app.xml><?xml version="1.0" encoding="utf-8"?>
<Properties xmlns="http://schemas.openxmlformats.org/officeDocument/2006/extended-properties" xmlns:vt="http://schemas.openxmlformats.org/officeDocument/2006/docPropsVTypes">
  <Template>Facet</Template>
  <TotalTime>716</TotalTime>
  <Words>437</Words>
  <Application>Microsoft Office PowerPoint</Application>
  <PresentationFormat>Widescreen</PresentationFormat>
  <Paragraphs>53</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VOIS AICTE Project</vt:lpstr>
      <vt:lpstr>PROBLEM STATEMENT</vt:lpstr>
      <vt:lpstr>Project Description   </vt:lpstr>
      <vt:lpstr>WHO ARE THE END USERS?</vt:lpstr>
      <vt:lpstr>Technology Used</vt:lpstr>
      <vt:lpstr>RESULTS </vt:lpstr>
      <vt:lpstr>RESULTS </vt:lpstr>
      <vt:lpstr>RESULTS </vt:lpstr>
      <vt:lpstr>RESULTS </vt:lpstr>
      <vt:lpstr>RESULTS </vt:lpstr>
      <vt:lpstr>Future scope: </vt:lpstr>
      <vt:lpstr>GitHub Link</vt:lpstr>
      <vt:lpstr>VOIS Course Completion Certificate   Course name :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HP</cp:lastModifiedBy>
  <cp:revision>245</cp:revision>
  <dcterms:created xsi:type="dcterms:W3CDTF">2021-07-11T13:13:15Z</dcterms:created>
  <dcterms:modified xsi:type="dcterms:W3CDTF">2026-09-20T12:04:15Z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